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3444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016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258800" y="0"/>
            <a:ext cx="0" cy="685800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86400" y="-914400"/>
            <a:ext cx="2743200" cy="2743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7680" y="1097280"/>
            <a:ext cx="3657600" cy="3657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818CF8"/>
                </a:solidFill>
                <a:latin typeface="Microsoft YaHei"/>
                <a:ea typeface="Microsoft YaHei"/>
              </a:rPr>
              <a:t>🏆 2026 · 智能立法创新成果 · 金奖候选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173736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icrosoft YaHei"/>
                <a:ea typeface="Microsoft YaHei"/>
              </a:rPr>
              <a:t>智立法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818CF8"/>
                </a:solidFill>
                <a:latin typeface="Microsoft YaHei"/>
                <a:ea typeface="Microsoft YaHei"/>
              </a:rPr>
              <a:t>行政立法智能辅助平台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  <a:latin typeface="Microsoft YaHei"/>
                <a:ea typeface="Microsoft YaHei"/>
              </a:rPr>
              <a:t>从立项到评估 · 让行政立法全流程智能化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484632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4F46E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4864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</a:rPr>
              <a:t>业务模块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484632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54864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</a:rPr>
              <a:t>数据表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84632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06B6D4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54864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</a:rPr>
              <a:t>Controller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484632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54864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</a:rPr>
              <a:t>容器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484632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43F5E"/>
                </a:solidFill>
                <a:latin typeface="Microsoft YaHei"/>
                <a:ea typeface="Microsoft YaHei"/>
              </a:rPr>
              <a:t>18→9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54864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</a:rPr>
              <a:t>月效率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YaHei"/>
                <a:ea typeface="Microsoft YaHei"/>
              </a:rPr>
              <a:t>智立法团队 · 答辩日 2026-10-12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63093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Microsoft YaHei"/>
                <a:ea typeface="Microsoft YaHei"/>
              </a:rPr>
              <a:t>legislation-platform v0.2.0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BACKGROUND &amp;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背景 · 行政立法的三大痛点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54480"/>
            <a:ext cx="2651760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现行法律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554480"/>
            <a:ext cx="265176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402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行政法规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265176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8000+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地方规章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554480"/>
            <a:ext cx="2651760" cy="914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800+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24028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年新增地方规章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35661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3566160" cy="9144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01752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0632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效率低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从立项到公布平均 18 个月；流程节点 10+ 个；多部门会签、跨阶段流转耗时严重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Microsoft YaHei"/>
                <a:ea typeface="Microsoft YaHei"/>
              </a:rPr>
              <a:t>18月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035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BD5E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3035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Microsoft YaHei"/>
                <a:ea typeface="Microsoft YaHei"/>
              </a:rPr>
              <a:t>9-12月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743200"/>
            <a:ext cx="35661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2743200"/>
            <a:ext cx="35661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0632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风险高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79476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越权立法、引用上位法冲突、引用失效法条等情形全靠人工核对，标准不统一、遗漏风险大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3035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Microsoft YaHei"/>
                <a:ea typeface="Microsoft YaHei"/>
              </a:rPr>
              <a:t>人工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3035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BD5E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3035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Microsoft YaHei"/>
                <a:ea typeface="Microsoft YaHei"/>
              </a:rPr>
              <a:t>AI自动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743200"/>
            <a:ext cx="35661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743200"/>
            <a:ext cx="3566160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0175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0632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参与弱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79476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公众意见分散于网站、APP、座谈会、纸质件，碎片化严重，难以归类统计与追踪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035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43F5E"/>
                </a:solidFill>
                <a:latin typeface="Microsoft YaHei"/>
                <a:ea typeface="Microsoft YaHei"/>
              </a:rPr>
              <a:t>碎片化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3035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BD5E1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3035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Microsoft YaHei"/>
                <a:ea typeface="Microsoft YaHei"/>
              </a:rPr>
              <a:t>结构化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背景痛点 · 2024 年底数据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VISION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项目愿景 · 用 AI 重塑立法流程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645920"/>
            <a:ext cx="5029200" cy="4754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🎯 项目使命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5720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建设覆盖"立项 → 起草 → 审查 → 公布 → 清理 → 评估"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全生命周期的行政立法智能辅助平台，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以 AI + 知识图谱 + 大数据为底座，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让行政立法工作实现「数字化、智能化、协同化」。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212080"/>
            <a:ext cx="1280160" cy="3657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18CF8"/>
                </a:solidFill>
                <a:latin typeface="Microsoft YaHei"/>
                <a:ea typeface="Microsoft YaHei"/>
              </a:rPr>
              <a:t>数字化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5212080"/>
            <a:ext cx="1280160" cy="3657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18CF8"/>
                </a:solidFill>
                <a:latin typeface="Microsoft YaHei"/>
                <a:ea typeface="Microsoft YaHei"/>
              </a:rPr>
              <a:t>智能化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5212080"/>
            <a:ext cx="1280160" cy="3657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18CF8"/>
                </a:solidFill>
                <a:latin typeface="Microsoft YaHei"/>
                <a:ea typeface="Microsoft YaHei"/>
              </a:rPr>
              <a:t>协同化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45920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97880" y="178308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7373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立法项目全流程线上管理 + 到期自动提醒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10 节点流程模板 · 法定期限自动预警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615184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7880" y="2752344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0662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法规资料库 + 上下位法关系图谱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7238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Neo4j 知识图谱 · 上位法冲突自动检测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3584448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97880" y="3721608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7588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AI 辅助草案生成 + 智慧审查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04164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Qwen 双通道 · 6 类规则引擎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4553712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97880" y="4690872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645152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多渠道公众意见 + 自动归类反馈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010912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5 渠道接入 · SimHash 去重 · 立场识别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5522976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97880" y="5660136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61441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法规实施效果多维评估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98017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合法性 · 落实性 · 满意度 三维雷达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项目愿景 · 5 大建设目标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整体架构 · 4 层分层设计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4F46E5"/>
                </a:solidFill>
                <a:latin typeface="Microsoft YaHei"/>
                <a:ea typeface="Microsoft YaHe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接入层 · 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Vue 3 Web 管理后台 + 微信小程序 + 公开 H5 页面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868680" cy="292608"/>
          </a:xfrm>
          <a:prstGeom prst="roundRect">
            <a:avLst/>
          </a:prstGeom>
          <a:solidFill>
            <a:srgbClr val="6D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Vue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920240"/>
            <a:ext cx="868680" cy="292608"/>
          </a:xfrm>
          <a:prstGeom prst="roundRect">
            <a:avLst/>
          </a:prstGeom>
          <a:solidFill>
            <a:srgbClr val="6D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Element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868680" cy="292608"/>
          </a:xfrm>
          <a:prstGeom prst="roundRect">
            <a:avLst/>
          </a:prstGeom>
          <a:solidFill>
            <a:srgbClr val="6D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ECharts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920240"/>
            <a:ext cx="868680" cy="292608"/>
          </a:xfrm>
          <a:prstGeom prst="roundRect">
            <a:avLst/>
          </a:prstGeom>
          <a:solidFill>
            <a:srgbClr val="6D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小程序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20240"/>
            <a:ext cx="868680" cy="292608"/>
          </a:xfrm>
          <a:prstGeom prst="roundRect">
            <a:avLst/>
          </a:prstGeom>
          <a:solidFill>
            <a:srgbClr val="6D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H5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10B981"/>
                </a:solidFill>
                <a:latin typeface="Microsoft YaHei"/>
                <a:ea typeface="Microsoft YaHei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803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应用层 · Application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4612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Spring Boot 3.1 · 14 Controller · 9 Service · Qwen AI 助手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108960"/>
            <a:ext cx="868680" cy="292608"/>
          </a:xfrm>
          <a:prstGeom prst="roundRect">
            <a:avLst/>
          </a:prstGeom>
          <a:solidFill>
            <a:srgbClr val="2ED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Spring Boot 3.1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108960"/>
            <a:ext cx="868680" cy="292608"/>
          </a:xfrm>
          <a:prstGeom prst="roundRect">
            <a:avLst/>
          </a:prstGeom>
          <a:solidFill>
            <a:srgbClr val="2ED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JWT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08960"/>
            <a:ext cx="868680" cy="292608"/>
          </a:xfrm>
          <a:prstGeom prst="roundRect">
            <a:avLst/>
          </a:prstGeom>
          <a:solidFill>
            <a:srgbClr val="2ED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@Async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3108960"/>
            <a:ext cx="868680" cy="292608"/>
          </a:xfrm>
          <a:prstGeom prst="roundRect">
            <a:avLst/>
          </a:prstGeom>
          <a:solidFill>
            <a:srgbClr val="2ED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Qwen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108960"/>
            <a:ext cx="868680" cy="292608"/>
          </a:xfrm>
          <a:prstGeom prst="roundRect">
            <a:avLst/>
          </a:prstGeom>
          <a:solidFill>
            <a:srgbClr val="2ED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SpringDoc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11247120" cy="10058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06B6D4"/>
                </a:solidFill>
                <a:latin typeface="Microsoft YaHei"/>
                <a:ea typeface="Microsoft YaHei"/>
              </a:rP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069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数据层 · Data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43484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MySQL 24 表 + Neo4j 知识图谱（可选） + Redis 缓存 + 5 种子用户 BCrypt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297680"/>
            <a:ext cx="868680" cy="292608"/>
          </a:xfrm>
          <a:prstGeom prst="roundRect">
            <a:avLst/>
          </a:prstGeom>
          <a:solidFill>
            <a:srgbClr val="24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MySQL 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4297680"/>
            <a:ext cx="868680" cy="292608"/>
          </a:xfrm>
          <a:prstGeom prst="roundRect">
            <a:avLst/>
          </a:prstGeom>
          <a:solidFill>
            <a:srgbClr val="24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Neo4j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297680"/>
            <a:ext cx="868680" cy="292608"/>
          </a:xfrm>
          <a:prstGeom prst="roundRect">
            <a:avLst/>
          </a:prstGeom>
          <a:solidFill>
            <a:srgbClr val="24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Redis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4297680"/>
            <a:ext cx="868680" cy="292608"/>
          </a:xfrm>
          <a:prstGeom prst="roundRect">
            <a:avLst/>
          </a:prstGeom>
          <a:solidFill>
            <a:srgbClr val="24D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MyBatis-Plus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" y="53035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59E0B"/>
                </a:solidFill>
                <a:latin typeface="Microsoft YaHei"/>
                <a:ea typeface="Microsoft YaHei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2578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可观测层 · Observability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62356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Prometheus 8 类业务指标 + Grafana 大盘 + ELK 风格 JSON 日志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5486400"/>
            <a:ext cx="868680" cy="292608"/>
          </a:xfrm>
          <a:prstGeom prst="roundRect">
            <a:avLst/>
          </a:prstGeom>
          <a:solidFill>
            <a:srgbClr val="FFB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Prometheus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5486400"/>
            <a:ext cx="868680" cy="292608"/>
          </a:xfrm>
          <a:prstGeom prst="roundRect">
            <a:avLst/>
          </a:prstGeom>
          <a:solidFill>
            <a:srgbClr val="FFB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Grafana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486400"/>
            <a:ext cx="868680" cy="292608"/>
          </a:xfrm>
          <a:prstGeom prst="roundRect">
            <a:avLst/>
          </a:prstGeom>
          <a:solidFill>
            <a:srgbClr val="FFB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ELK JSON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5486400"/>
            <a:ext cx="868680" cy="292608"/>
          </a:xfrm>
          <a:prstGeom prst="roundRect">
            <a:avLst/>
          </a:prstGeom>
          <a:solidFill>
            <a:srgbClr val="FFB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Actuator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整体架构 · 4 层 13 模块 7 中间件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8 MODULES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8 大模块 · 立法全周期覆盖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91440" cy="2286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1E293B"/>
                </a:solidFill>
                <a:latin typeface="Microsoft YaHei"/>
                <a:ea typeface="Microsoft YaHe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立法项目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立项 / 推进 / 回退 / 10 节点流程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428999"/>
            <a:ext cx="237744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/legislative-project/*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55448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554480"/>
            <a:ext cx="91440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6916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MODULE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01168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1E293B"/>
                </a:solidFill>
                <a:latin typeface="Microsoft YaHei"/>
                <a:ea typeface="Microsoft YaHe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606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草案生成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AI 模板拼接 + 上位法 RAG 检索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2152" y="3428999"/>
            <a:ext cx="237744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/draft/*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55448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554480"/>
            <a:ext cx="91440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6916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MODULE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01168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1E293B"/>
                </a:solidFill>
                <a:latin typeface="Microsoft YaHei"/>
                <a:ea typeface="Microsoft YaHei"/>
              </a:rPr>
              <a:t>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606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智慧审查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6 类规则引擎 · 红黄蓝灰四级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9944" y="3428999"/>
            <a:ext cx="237744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/review/*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9136" y="155448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554480"/>
            <a:ext cx="91440" cy="2286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16916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MODULE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201168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1E293B"/>
                </a:solidFill>
                <a:latin typeface="Microsoft YaHei"/>
                <a:ea typeface="Microsoft YaHei"/>
              </a:rPr>
              <a:t>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6060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清理任务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DAILY / PERIODIC / THEMATIC 三模式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17736" y="3428999"/>
            <a:ext cx="237744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/cleanup/*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233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023360"/>
            <a:ext cx="91440" cy="2286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160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MODULE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48056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1E293B"/>
                </a:solidFill>
                <a:latin typeface="Microsoft YaHei"/>
                <a:ea typeface="Microsoft YaHei"/>
              </a:rPr>
              <a:t>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0749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实施评估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4406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合法性 / 落实性 / 满意度 三维评分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897879"/>
            <a:ext cx="237744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/evaluation/*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40233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73552" y="4023360"/>
            <a:ext cx="91440" cy="2286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2152" y="4160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MODULE 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2152" y="448056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1E293B"/>
                </a:solidFill>
                <a:latin typeface="Microsoft YaHei"/>
                <a:ea typeface="Microsoft YaHei"/>
              </a:rPr>
              <a:t>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2152" y="50749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意见征集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02152" y="54406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多渠道汇总 + AI 去重归类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02152" y="5897879"/>
            <a:ext cx="237744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/consultation/*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81344" y="40233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81344" y="4023360"/>
            <a:ext cx="91440" cy="2286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9944" y="4160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MODULE 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9944" y="448056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1E293B"/>
                </a:solidFill>
                <a:latin typeface="Microsoft YaHei"/>
                <a:ea typeface="Microsoft YaHei"/>
              </a:rPr>
              <a:t>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50749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资料库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9944" y="54406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法规 / 草案 / 评估报告 / 全文检索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9944" y="5897879"/>
            <a:ext cx="237744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/library/*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89136" y="40233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89136" y="4023360"/>
            <a:ext cx="91440" cy="2286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17736" y="4160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MODULE 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17736" y="4480560"/>
            <a:ext cx="1371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1E293B"/>
                </a:solidFill>
                <a:latin typeface="Microsoft YaHei"/>
                <a:ea typeface="Microsoft YaHei"/>
              </a:rPr>
              <a:t>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17736" y="50749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  <a:ea typeface="Microsoft YaHei"/>
              </a:rPr>
              <a:t>信息展示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17736" y="54406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Dashboard 大屏 + 11 卡片 + 30s 轮播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17736" y="5897879"/>
            <a:ext cx="2377440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/info/*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8 大模块 · 立法全周期闭环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DEMO 1 · FLOW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演示 · 项目流程端到端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64008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立法项目流程图（10 节点）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035040" cy="347472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48840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Microsoft YaHei"/>
                <a:ea typeface="Microsoft YaHei"/>
              </a:rPr>
              <a:t>立项建议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4884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10B981"/>
                </a:solidFill>
                <a:latin typeface="Microsoft YaHei"/>
                <a:ea typeface="Microsoft YaHei"/>
              </a:rPr>
              <a:t>09-15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96312"/>
            <a:ext cx="6035040" cy="347472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54203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4203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Microsoft YaHei"/>
                <a:ea typeface="Microsoft YaHei"/>
              </a:rPr>
              <a:t>立项审查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4203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10B981"/>
                </a:solidFill>
                <a:latin typeface="Microsoft YaHei"/>
                <a:ea typeface="Microsoft YaHei"/>
              </a:rPr>
              <a:t>09-22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9503"/>
            <a:ext cx="6035040" cy="347472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2935223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935223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Microsoft YaHei"/>
                <a:ea typeface="Microsoft YaHei"/>
              </a:rPr>
              <a:t>起草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935223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10B981"/>
                </a:solidFill>
                <a:latin typeface="Microsoft YaHei"/>
                <a:ea typeface="Microsoft YaHei"/>
              </a:rPr>
              <a:t>10-01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82696"/>
            <a:ext cx="6035040" cy="347472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3328416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328416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Microsoft YaHei"/>
                <a:ea typeface="Microsoft YaHei"/>
              </a:rPr>
              <a:t>征求意见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32841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10B981"/>
                </a:solidFill>
                <a:latin typeface="Microsoft YaHei"/>
                <a:ea typeface="Microsoft YaHei"/>
              </a:rPr>
              <a:t>10-05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75887"/>
            <a:ext cx="6035040" cy="347472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3721607"/>
            <a:ext cx="256032" cy="25603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21607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专家论证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21607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4F46E5"/>
                </a:solidFill>
                <a:latin typeface="Microsoft YaHei"/>
                <a:ea typeface="Microsoft YaHei"/>
              </a:rPr>
              <a:t>10-10 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79"/>
            <a:ext cx="60350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114799"/>
            <a:ext cx="256032" cy="25603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114799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风险评估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114799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62272"/>
            <a:ext cx="60350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507992"/>
            <a:ext cx="256032" cy="25603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50799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法制审查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50799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55464"/>
            <a:ext cx="60350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4901184"/>
            <a:ext cx="256032" cy="25603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901184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审议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01184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248656"/>
            <a:ext cx="60350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294376"/>
            <a:ext cx="256032" cy="25603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294376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公布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29437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641848"/>
            <a:ext cx="603504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5800" y="5687568"/>
            <a:ext cx="256032" cy="256032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68756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备案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687568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40880" y="1554480"/>
            <a:ext cx="4754880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55% → 88%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246888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流程推进效率（演示前进 3 节点）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3108960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86600" y="31546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318211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Microsoft YaHei"/>
                <a:ea typeface="Microsoft YaHei"/>
              </a:rPr>
              <a:t>推进下一阶段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3108960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555480" y="31546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318211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Microsoft YaHei"/>
                <a:ea typeface="Microsoft YaHei"/>
              </a:rPr>
              <a:t>回退指定阶段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3566160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086600" y="36118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0" y="363931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Microsoft YaHei"/>
                <a:ea typeface="Microsoft YaHei"/>
              </a:rPr>
              <a:t>7 天预警徽章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9760" y="3566160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555480" y="36118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363931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Microsoft YaHei"/>
                <a:ea typeface="Microsoft YaHei"/>
              </a:rPr>
              <a:t>ECharts 流程图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80" y="4023360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086600" y="4069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80" y="409651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Microsoft YaHei"/>
                <a:ea typeface="Microsoft YaHei"/>
              </a:rPr>
              <a:t>法定期限管理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9760" y="4023360"/>
            <a:ext cx="228600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555480" y="4069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409651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Microsoft YaHei"/>
                <a:ea typeface="Microsoft YaHei"/>
              </a:rPr>
              <a:t>操作时间记录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40880" y="5120640"/>
            <a:ext cx="4754880" cy="1188720"/>
          </a:xfrm>
          <a:prstGeom prst="rect">
            <a:avLst/>
          </a:prstGeom>
          <a:solidFill>
            <a:srgbClr val="EEF2FF"/>
          </a:solidFill>
          <a:ln w="635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78040" y="5212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💡 讲点：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5486400"/>
            <a:ext cx="457200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基于《行政法规制定程序条例》配置 10 节点模板，立法流程可视化 + 端到端推进 + 自动期限预警。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演示 1 · 项目流程端到端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DEMO 2 · AI DRAFT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演示 · AI 草案生成（异步任务）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生成流程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10312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选择项目 + 填入上位法条款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004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点击「开始生成」→ 拿到 taskId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20040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1868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@Async 异步任务后台执行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374904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6732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前端 1.5 秒轮询 taskId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42976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1596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显示 6 章 Markdown 草案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5486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484632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64608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支持导出 Markdown / 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91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生成结果预览 · 6 章结构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Microsoft YaHei"/>
                <a:ea typeface="Microsoft YaHei"/>
              </a:rPr>
              <a:t># 第一章 总则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第一条【立法目的】为规范XX管理...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9748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Microsoft YaHei"/>
                <a:ea typeface="Microsoft YaHei"/>
              </a:rPr>
              <a:t># 第二章 适用范围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第四条【地域范围】本市行政区域内...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0040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Microsoft YaHei"/>
                <a:ea typeface="Microsoft YaHei"/>
              </a:rPr>
              <a:t># 第三章 主体职责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2900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第八条【部门职责】市XX主管部门...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Microsoft YaHei"/>
                <a:ea typeface="Microsoft YaHei"/>
              </a:rPr>
              <a:t># 第四章 权利义务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第十二条【当事人权利】...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Microsoft YaHei"/>
                <a:ea typeface="Microsoft YaHei"/>
              </a:rPr>
              <a:t># 第五章 法律责任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第十六条【处罚规则】...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18CF8"/>
                </a:solidFill>
                <a:latin typeface="Microsoft YaHei"/>
                <a:ea typeface="Microsoft YaHei"/>
              </a:rPr>
              <a:t># 第六章 附则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3776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第二十条【施行日期】...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864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进度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760720"/>
            <a:ext cx="3657600" cy="1371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760720"/>
            <a:ext cx="365760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571500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Microsoft YaHei"/>
                <a:ea typeface="Microsoft YaHei"/>
              </a:rPr>
              <a:t>✓ SUCCESS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演示 2 · AI 草案生成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DEMO 3 · INTELLIGENT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演示 · 智慧审查（6 类规则 · 4 级问题）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645920"/>
            <a:ext cx="2743200" cy="21031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🔴 严重冲突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R001 上位法冲突 + R002 违规越权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2743200" cy="210312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83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🔴 越权立法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632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超越法定权限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2743200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🟡 需关注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R003 引用失效 + R004 条文重复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931920"/>
            <a:ext cx="2743200" cy="2103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069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🔵 格式建议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480560"/>
            <a:ext cx="23774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34924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R005 格式不规范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45920"/>
            <a:ext cx="539496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规则清单 · 6 类规则引擎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286000"/>
            <a:ext cx="50292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286000"/>
            <a:ext cx="73152" cy="54864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2395728"/>
            <a:ext cx="640080" cy="329184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R001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423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</a:rPr>
              <a:t>上位法冲突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4231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红色 · 严重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926080"/>
            <a:ext cx="50292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2926080"/>
            <a:ext cx="73152" cy="54864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0" y="3035808"/>
            <a:ext cx="640080" cy="329184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R002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06324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</a:rPr>
              <a:t>违规越权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063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红色 · 严重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566160"/>
            <a:ext cx="50292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3566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60" y="3675888"/>
            <a:ext cx="64008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R003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3703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</a:rPr>
              <a:t>引用失效法条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703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黄色 · 关注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206240"/>
            <a:ext cx="50292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420624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0" y="4315968"/>
            <a:ext cx="64008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R004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43434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</a:rPr>
              <a:t>条文重复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43434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黄色 · 关注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846320"/>
            <a:ext cx="50292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0" y="4846320"/>
            <a:ext cx="73152" cy="5486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66560" y="4956048"/>
            <a:ext cx="640080" cy="3291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R005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49834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</a:rPr>
              <a:t>格式不规范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4983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蓝色 · 格式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486400"/>
            <a:ext cx="502920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0" y="5486400"/>
            <a:ext cx="73152" cy="5486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66560" y="5596128"/>
            <a:ext cx="640080" cy="3291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R006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56235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Microsoft YaHei"/>
                <a:ea typeface="Microsoft YaHei"/>
              </a:rPr>
              <a:t>语言冗杂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56235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灰色 · 优化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演示 3 · 智慧审查引擎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DEMO 4 · CLEANUP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演示 · 清理任务 + 实施评估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三维评估雷达图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3465576"/>
            <a:ext cx="443519" cy="322236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383070" y="3787812"/>
            <a:ext cx="169409" cy="52138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834850" y="4309200"/>
            <a:ext cx="5482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665441" y="3787812"/>
            <a:ext cx="169409" cy="52138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665441" y="3465576"/>
            <a:ext cx="443519" cy="322236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0" y="2999232"/>
            <a:ext cx="887039" cy="644472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57180" y="3643704"/>
            <a:ext cx="338819" cy="1042776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560740" y="4686480"/>
            <a:ext cx="109644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221921" y="3643704"/>
            <a:ext cx="338819" cy="1042776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21921" y="2999232"/>
            <a:ext cx="887039" cy="644472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08960" y="2532888"/>
            <a:ext cx="1330558" cy="96670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31290" y="3499596"/>
            <a:ext cx="508228" cy="1564164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286630" y="5063760"/>
            <a:ext cx="164466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778402" y="3499596"/>
            <a:ext cx="508228" cy="1564164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78402" y="2532888"/>
            <a:ext cx="1330558" cy="96670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08960" y="2377440"/>
            <a:ext cx="1478398" cy="107412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022660" y="3451560"/>
            <a:ext cx="564698" cy="173796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195260" y="5189520"/>
            <a:ext cx="18274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630562" y="3451560"/>
            <a:ext cx="564698" cy="173796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630562" y="2377440"/>
            <a:ext cx="1478398" cy="107412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035808" y="2382012"/>
            <a:ext cx="146304" cy="14630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92446" y="345046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75398" y="47390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50533" y="480196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53090" y="3474480"/>
            <a:ext cx="146304" cy="14630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108960" y="2455164"/>
            <a:ext cx="1256638" cy="1068450"/>
          </a:xfrm>
          <a:prstGeom prst="line">
            <a:avLst/>
          </a:prstGeom>
          <a:ln w="317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748550" y="3523614"/>
            <a:ext cx="617048" cy="1288626"/>
          </a:xfrm>
          <a:prstGeom prst="line">
            <a:avLst/>
          </a:prstGeom>
          <a:ln w="317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423685" y="4812240"/>
            <a:ext cx="1324865" cy="62880"/>
          </a:xfrm>
          <a:prstGeom prst="line">
            <a:avLst/>
          </a:prstGeom>
          <a:ln w="317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926242" y="3547632"/>
            <a:ext cx="497443" cy="1327488"/>
          </a:xfrm>
          <a:prstGeom prst="line">
            <a:avLst/>
          </a:prstGeom>
          <a:ln w="317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926242" y="2455164"/>
            <a:ext cx="1182718" cy="1092468"/>
          </a:xfrm>
          <a:prstGeom prst="line">
            <a:avLst/>
          </a:prstGeom>
          <a:ln w="317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34640" y="2007109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F46E5"/>
                </a:solidFill>
                <a:latin typeface="Microsoft YaHei"/>
                <a:ea typeface="Microsoft YaHei"/>
              </a:rPr>
              <a:t>合法性 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4798" y="3242346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Microsoft YaHei"/>
                <a:ea typeface="Microsoft YaHei"/>
              </a:rPr>
              <a:t>落实性 88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5395" y="52410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Microsoft YaHei"/>
                <a:ea typeface="Microsoft YaHei"/>
              </a:rPr>
              <a:t>满意度 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885" y="52410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6B6D4"/>
                </a:solidFill>
                <a:latin typeface="Microsoft YaHei"/>
                <a:ea typeface="Microsoft YaHei"/>
              </a:rPr>
              <a:t>执行率 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4482" y="3242346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EC4899"/>
                </a:solidFill>
                <a:latin typeface="Microsoft YaHei"/>
                <a:ea typeface="Microsoft YaHei"/>
              </a:rPr>
              <a:t>公开度 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521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综合得分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80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Microsoft YaHei"/>
                <a:ea typeface="Microsoft YaHei"/>
              </a:rPr>
              <a:t>84.2 / 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1554480"/>
            <a:ext cx="56692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</a:rPr>
              <a:t>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16916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合法性 · Legality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2011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执法合规率、与上位法一致性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169164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400" b="1">
                <a:solidFill>
                  <a:srgbClr val="4F46E5"/>
                </a:solidFill>
                <a:latin typeface="Microsoft YaHei"/>
                <a:ea typeface="Microsoft YaHei"/>
              </a:rPr>
              <a:t>30%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214884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权重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2606039"/>
            <a:ext cx="56692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09360" y="278891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</a:rPr>
              <a:t>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2743199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落实性 · Implementation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3063239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执行到位率、配套措施完备度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2743199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400" b="1">
                <a:solidFill>
                  <a:srgbClr val="10B981"/>
                </a:solidFill>
                <a:latin typeface="Microsoft YaHei"/>
                <a:ea typeface="Microsoft YaHei"/>
              </a:rPr>
              <a:t>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3200399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权重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3657600"/>
            <a:ext cx="56692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09360" y="38404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</a:rPr>
              <a:t>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3794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满意度 · Satisfaction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4114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公众满意度、投诉率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37947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400" b="1">
                <a:solidFill>
                  <a:srgbClr val="F59E0B"/>
                </a:solidFill>
                <a:latin typeface="Microsoft YaHei"/>
                <a:ea typeface="Microsoft YaHei"/>
              </a:rPr>
              <a:t>30%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4251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权重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4754880"/>
            <a:ext cx="5669280" cy="1554480"/>
          </a:xfrm>
          <a:prstGeom prst="rect">
            <a:avLst/>
          </a:prstGeom>
          <a:solidFill>
            <a:srgbClr val="D1FAE5"/>
          </a:solidFill>
          <a:ln w="63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489204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Microsoft YaHei"/>
                <a:ea typeface="Microsoft YaHei"/>
              </a:rPr>
              <a:t>💡 清理任务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212080"/>
            <a:ext cx="53035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2026Q4 规章集中清理</a:t>
            </a:r>
          </a:p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AI 推荐 124 候选法规</a:t>
            </a:r>
          </a:p>
          <a:p>
            <a:pPr algn="l"/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</a:rPr>
              <a:t>KEEP 87 / MODIFY 24 / OBSOLETE 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演示 4 · 清理 + 评估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DEMO 5 · PUBLIC CONSULTATION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演示 · 意见征集（5 渠道 + AI 归类）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5544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5 渠道联动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103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1E293B"/>
                </a:solidFill>
                <a:latin typeface="Microsoft YaHei"/>
                <a:ea typeface="Microsoft YaHei"/>
              </a:rPr>
              <a:t>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Web 后台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内部工作人员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011680"/>
            <a:ext cx="2103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1E293B"/>
                </a:solidFill>
                <a:latin typeface="Microsoft YaHei"/>
                <a:ea typeface="Microsoft YaHei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9260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H5 公众页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29184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移动端公众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011680"/>
            <a:ext cx="2103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19456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1E293B"/>
                </a:solidFill>
                <a:latin typeface="Microsoft YaHei"/>
                <a:ea typeface="Microsoft YaHe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9260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微信小程序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29184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扫码提交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2103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9768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1E293B"/>
                </a:solidFill>
                <a:latin typeface="Microsoft YaHei"/>
                <a:ea typeface="Microsoft YaHei"/>
              </a:rPr>
              <a:t>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029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政务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949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政务用户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4114800"/>
            <a:ext cx="2103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429768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1E293B"/>
                </a:solidFill>
                <a:latin typeface="Microsoft YaHei"/>
                <a:ea typeface="Microsoft YaHei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029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Microsoft YaHei"/>
                <a:ea typeface="Microsoft YaHei"/>
              </a:rPr>
              <a:t>座谈会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3949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线下征集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14800"/>
            <a:ext cx="2103120" cy="1828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29768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029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实时汇总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949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818CF8"/>
                </a:solidFill>
                <a:latin typeface="Microsoft YaHei"/>
                <a:ea typeface="Microsoft YaHei"/>
              </a:rPr>
              <a:t>多渠道联动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AI 智能处理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2011680"/>
            <a:ext cx="4937760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40880" y="22402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4F46E5"/>
                </a:solidFill>
                <a:latin typeface="Microsoft YaHei"/>
                <a:ea typeface="Microsoft YaHei"/>
              </a:rPr>
              <a:t>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103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自动归类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合法性 / 合理性 / 可行性 / 操作性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2194560"/>
            <a:ext cx="1188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5 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3017520"/>
            <a:ext cx="4937760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40880" y="32461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10B981"/>
                </a:solidFill>
                <a:latin typeface="Microsoft YaHei"/>
                <a:ea typeface="Microsoft YaHei"/>
              </a:rPr>
              <a:t>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1089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SimHash 去重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4747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相似度 ≥ 80% 自动合并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200400"/>
            <a:ext cx="1188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80%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4023360"/>
            <a:ext cx="493776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40880" y="42519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59E0B"/>
                </a:solidFill>
                <a:latin typeface="Microsoft YaHei"/>
                <a:ea typeface="Microsoft YaHei"/>
              </a:rPr>
              <a:t>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114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立场识别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480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支持 / 反对 / 建议 / 中立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206240"/>
            <a:ext cx="1188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4 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5029200"/>
            <a:ext cx="4937760" cy="8686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40880" y="52578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6B6D4"/>
                </a:solidFill>
                <a:latin typeface="Microsoft YaHei"/>
                <a:ea typeface="Microsoft YaHei"/>
              </a:rPr>
              <a:t>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51206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词云 + 报告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5486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关键词提取 + 自动报告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5212080"/>
            <a:ext cx="1188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演示 5 · 意见征集端到端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DEMO 6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演示 · Dashboard 大屏（11 卡片 · 30s 轮播）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1143000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法规存量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8,236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9456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Microsoft YaHei"/>
                <a:ea typeface="Microsoft YaHei"/>
              </a:rPr>
              <a:t>↑ 12.4% 同比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26517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本年已发布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574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342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19456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2316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Microsoft YaHei"/>
                <a:ea typeface="Microsoft YaHei"/>
              </a:rPr>
              <a:t>↑ 8.2% 同比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26517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项目总数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1,128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9456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2316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Microsoft YaHei"/>
                <a:ea typeface="Microsoft YaHei"/>
              </a:rPr>
              <a:t>↑ 18.6% 同比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737360"/>
            <a:ext cx="265176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78308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资料 + 意见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0574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26,891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42316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Microsoft YaHei"/>
                <a:ea typeface="Microsoft YaHei"/>
              </a:rPr>
              <a:t>↑ 24.3% 同比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34640"/>
            <a:ext cx="54864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92608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月度趋势 · 立法数量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21608"/>
            <a:ext cx="320040" cy="43891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61288" y="3557015"/>
            <a:ext cx="32004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91056" y="3633825"/>
            <a:ext cx="320040" cy="52669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20824" y="3447287"/>
            <a:ext cx="320040" cy="713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50591" y="3392424"/>
            <a:ext cx="320040" cy="7680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59" y="3524097"/>
            <a:ext cx="320040" cy="63642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10128" y="3282696"/>
            <a:ext cx="320040" cy="8778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9896" y="3227832"/>
            <a:ext cx="320040" cy="9326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3" y="3337560"/>
            <a:ext cx="320040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99431" y="3151022"/>
            <a:ext cx="320040" cy="1009497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199" y="3304641"/>
            <a:ext cx="320040" cy="85587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58968" y="3194913"/>
            <a:ext cx="320040" cy="96560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1月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2月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45336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3月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75104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4月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04871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5月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39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6月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64408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7月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94176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8月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23943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9月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1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10月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79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11月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4206240"/>
            <a:ext cx="3657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CBD5E1"/>
                </a:solidFill>
                <a:latin typeface="Microsoft YaHei"/>
                <a:ea typeface="Microsoft YaHei"/>
              </a:rPr>
              <a:t>12月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2834640"/>
            <a:ext cx="256032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292608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法规类型分布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4069080"/>
            <a:ext cx="274320" cy="137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4041648"/>
            <a:ext cx="9144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行政法规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4251960"/>
            <a:ext cx="274320" cy="137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78040" y="4224528"/>
            <a:ext cx="9144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部门规章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4434840"/>
            <a:ext cx="27432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78040" y="4407408"/>
            <a:ext cx="9144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地方规章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32918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8.2K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356616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总法规数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2834640"/>
            <a:ext cx="27432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98280" y="292608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地区分布 Top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324612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广东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20" y="3282696"/>
            <a:ext cx="1371600" cy="109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20" y="3282696"/>
            <a:ext cx="1261872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64240" y="324612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1,260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7472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江苏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46920" y="3511296"/>
            <a:ext cx="1371600" cy="109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46920" y="3511296"/>
            <a:ext cx="116586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64240" y="347472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1,156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8280" y="370332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浙江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46920" y="3739896"/>
            <a:ext cx="1371600" cy="109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46920" y="3739896"/>
            <a:ext cx="1069848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064240" y="370332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1,058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98280" y="393192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山东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46920" y="3968496"/>
            <a:ext cx="1371600" cy="109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646920" y="3968496"/>
            <a:ext cx="96012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064240" y="393192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952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98280" y="416052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Microsoft YaHei"/>
                <a:ea typeface="Microsoft YaHei"/>
              </a:rPr>
              <a:t>上海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46920" y="4197096"/>
            <a:ext cx="1371600" cy="10972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46920" y="4197096"/>
            <a:ext cx="850392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064240" y="416052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848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4526280"/>
            <a:ext cx="1115568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5800" y="4617720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即将到期项目 · 实时预警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4983480"/>
            <a:ext cx="2011680" cy="1097280"/>
          </a:xfrm>
          <a:prstGeom prst="roundRect">
            <a:avLst/>
          </a:prstGeom>
          <a:solidFill>
            <a:srgbClr val="24090E"/>
          </a:solidFill>
          <a:ln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7240" y="5074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43F5E"/>
                </a:solidFill>
                <a:latin typeface="Microsoft YaHei"/>
                <a:ea typeface="Microsoft YaHei"/>
              </a:rPr>
              <a:t>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" y="5349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网络安全管理办法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7240" y="56235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43F5E"/>
                </a:solidFill>
                <a:latin typeface="Microsoft YaHei"/>
                <a:ea typeface="Microsoft YaHei"/>
              </a:rPr>
              <a:t>7天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880360" y="4983480"/>
            <a:ext cx="2011680" cy="1097280"/>
          </a:xfrm>
          <a:prstGeom prst="roundRect">
            <a:avLst/>
          </a:prstGeom>
          <a:solidFill>
            <a:srgbClr val="241701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71800" y="5074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</a:rPr>
              <a:t>🟡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71800" y="5349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数据安全实施细则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71800" y="56235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  <a:ea typeface="Microsoft YaHei"/>
              </a:rPr>
              <a:t>15天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074920" y="4983480"/>
            <a:ext cx="2011680" cy="1097280"/>
          </a:xfrm>
          <a:prstGeom prst="roundRect">
            <a:avLst/>
          </a:prstGeom>
          <a:solidFill>
            <a:srgbClr val="001B1F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66360" y="5074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Microsoft YaHei"/>
                <a:ea typeface="Microsoft YaHei"/>
              </a:rPr>
              <a:t>🔵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60" y="5349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智慧城市建设条例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56235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Microsoft YaHei"/>
                <a:ea typeface="Microsoft YaHei"/>
              </a:rPr>
              <a:t>28天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269479" y="4983480"/>
            <a:ext cx="2011680" cy="1097280"/>
          </a:xfrm>
          <a:prstGeom prst="roundRect">
            <a:avLst/>
          </a:prstGeom>
          <a:solidFill>
            <a:srgbClr val="021B13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60919" y="5074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Microsoft YaHei"/>
                <a:ea typeface="Microsoft YaHei"/>
              </a:rPr>
              <a:t>🟢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60919" y="5349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营商环境优化规定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60919" y="56235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  <a:ea typeface="Microsoft YaHei"/>
              </a:rPr>
              <a:t>45天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464040" y="4983480"/>
            <a:ext cx="2011680" cy="1097280"/>
          </a:xfrm>
          <a:prstGeom prst="roundRect">
            <a:avLst/>
          </a:prstGeom>
          <a:solidFill>
            <a:srgbClr val="140D24"/>
          </a:solidFill>
          <a:ln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55480" y="5074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</a:rPr>
              <a:t>🟣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55480" y="5349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公共数据开放办法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55480" y="56235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Microsoft YaHei"/>
                <a:ea typeface="Microsoft YaHei"/>
              </a:rPr>
              <a:t>60天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演示 6 · Dashboard 大屏 · 8 真实接口 / 11 图表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DEVOPS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工程化交付 · 一键启动 + 全链路可观测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Docker 一键启动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docker-compose.yml 编排 5 个容器 · MySQL 8 + Neo4j 5 + Backend + Prometheus + Grafana · 启动到可用 &lt; 3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8999"/>
            <a:ext cx="3291840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661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容器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73736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83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Prometheus 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2316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抓取 Spring Boot Actuator · 8 类业务指标 (项目/草案/审查/评估/清理) + JVM / HTTP / DB 连接池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428999"/>
            <a:ext cx="3291840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47472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5661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业务指标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55448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737360"/>
            <a:ext cx="54864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783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Grafana 大盘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2316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立法平台定制大盘 · 实时业务指标 + JVM 堆栈 + DB 慢查询 · 支持告警规则配置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428999"/>
            <a:ext cx="3291840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5661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面板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4206240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251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ELK 风格日志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logback-spring.xml 输出结构化 JSON · logs/app.json.log · 字段含 traceId/userId/action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97879"/>
            <a:ext cx="3291840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Microsoft YaHei"/>
                <a:ea typeface="Microsoft YaHei"/>
              </a:rPr>
              <a:t>15+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60350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字段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402336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34840" y="4206240"/>
            <a:ext cx="548640" cy="54864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251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集成测试 + 单测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89204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SpringBootTest 后端 20 用例 + Vitest 前端 55 用例 · 覆盖项目推进/草案/审查/评估核心链路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5897879"/>
            <a:ext cx="3291840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59436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C4899"/>
                </a:solidFill>
                <a:latin typeface="Microsoft YaHei"/>
                <a:ea typeface="Microsoft YaHei"/>
              </a:rPr>
              <a:t>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60350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测试用例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402336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21040" y="420624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</a:rPr>
              <a:t>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2519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冒烟脚本 36 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892040"/>
            <a:ext cx="3291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day1-verify.sh (11) + day2-smoke.sh (9) + day3-smoke.sh (16) · 端到端业务链路验证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5897879"/>
            <a:ext cx="3291840" cy="91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594360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Microsoft YaHei"/>
                <a:ea typeface="Microsoft YaHei"/>
              </a:rPr>
              <a:t>36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60350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冒烟步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工程化交付 · Docker + Prometheus + Grafana + ELK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AI 能力 · Qwen 双通道 + 降级容错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594360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QwenFacade.java · 核心实现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  <a:ea typeface="Consolas"/>
              </a:rPr>
              <a:t>// Qwen 在线/离线双通道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818CF8"/>
                </a:solidFill>
                <a:latin typeface="Consolas"/>
                <a:ea typeface="Consolas"/>
              </a:rPr>
              <a:t>public class QwenFacade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  public String execute(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      String prompt,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      Supplier&lt;String&gt; fallback)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Consolas"/>
                <a:ea typeface="Consolas"/>
              </a:rPr>
              <a:t>    try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  <a:ea typeface="Consolas"/>
              </a:rPr>
              <a:t>      // 在线模式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      return callQwenAPI(prompt);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Consolas"/>
                <a:ea typeface="Consolas"/>
              </a:rPr>
              <a:t>    } catch (Exception e)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  <a:ea typeface="Consolas"/>
              </a:rPr>
              <a:t>      // 失败 → 自动降级离线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59E0B"/>
                </a:solidFill>
                <a:latin typeface="Consolas"/>
                <a:ea typeface="Consolas"/>
              </a:rPr>
              <a:t>      log("Qwen 调用失败，降级到 offline");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      return fallback.get();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Consolas"/>
                <a:ea typeface="Consolas"/>
              </a:rPr>
              <a:t>  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818CF8"/>
                </a:solidFill>
                <a:latin typeface="Consolas"/>
                <a:ea typeface="Consolas"/>
              </a:rPr>
              <a:t> 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818CF8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  <a:ea typeface="Consolas"/>
              </a:rPr>
              <a:t>// 业务调用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2064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String content = qwenFacade.execute(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0352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    userPrompt,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Consolas"/>
                <a:ea typeface="Consolas"/>
              </a:rPr>
              <a:t>    () -&gt; buildPlaceholderContent(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6928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        "XX 智慧城市管理条例",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  <a:ea typeface="Consolas"/>
              </a:rPr>
              <a:t>        Arrays.asList("上位法", "总则")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35040"/>
            <a:ext cx="5577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D399"/>
                </a:solidFill>
                <a:latin typeface="Consolas"/>
                <a:ea typeface="Consolas"/>
              </a:rPr>
              <a:t>    ));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AI 4 大应用场景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011680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2194560"/>
            <a:ext cx="502920" cy="5029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103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草案生成 · 模板占位 + RAG 检索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4231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结合上位法条款 + 异地参考规章片段，6 章结构化输出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2286000"/>
            <a:ext cx="1188720" cy="329184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0B981"/>
                </a:solidFill>
                <a:latin typeface="Microsoft YaHei"/>
                <a:ea typeface="Microsoft YaHei"/>
              </a:rPr>
              <a:t>/draft/*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17520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29400" y="3200400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1089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智慧审查 · 6 类规则 + 关键词命中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4290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红黄蓝灰 4 级问题分类 + 置信度评分 + 修改建议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61320" y="3291840"/>
            <a:ext cx="1188720" cy="329184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0B981"/>
                </a:solidFill>
                <a:latin typeface="Microsoft YaHei"/>
                <a:ea typeface="Microsoft YaHei"/>
              </a:rPr>
              <a:t>/review/*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023360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29400" y="4206240"/>
            <a:ext cx="502920" cy="5029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114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清理建议 · 置信度评分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基于影响程度 + 历史使用 + 反馈意见生成 KEEP/MODIFY/OBSOLETE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61320" y="4297680"/>
            <a:ext cx="1188720" cy="329184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0B981"/>
                </a:solidFill>
                <a:latin typeface="Microsoft YaHei"/>
                <a:ea typeface="Microsoft YaHei"/>
              </a:rPr>
              <a:t>/cleanup/*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029200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29400" y="521208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1206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  <a:ea typeface="Microsoft YaHei"/>
              </a:rPr>
              <a:t>意见归类 · SimHash + 立场识别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440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5 类主题 + 4 类立场 + 80% 重复合并 + 词云 + 自动报告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61320" y="5303520"/>
            <a:ext cx="1188720" cy="329184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0B981"/>
                </a:solidFill>
                <a:latin typeface="Microsoft YaHei"/>
                <a:ea typeface="Microsoft YaHei"/>
              </a:rPr>
              <a:t>/consultation/*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AI 能力 · Qwen 在线 + 离线兜底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TECHNICAL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技术亮点 · 7 维度技术栈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114300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554480" cy="6766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1554480" cy="6766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755648"/>
            <a:ext cx="283463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Spring Boot 3.1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7488" y="1755648"/>
            <a:ext cx="2340864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MyBatis-Plus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755648"/>
            <a:ext cx="283463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Spring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2448" y="1755648"/>
            <a:ext cx="1353312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@Async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" y="2231136"/>
            <a:ext cx="1143000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5760" y="2231136"/>
            <a:ext cx="1554480" cy="6766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231136"/>
            <a:ext cx="1554480" cy="6766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AI 智能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432304"/>
            <a:ext cx="16824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Qwen 双通道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5344" y="2432304"/>
            <a:ext cx="1517904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在线 + 离线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2976" y="2432304"/>
            <a:ext cx="1024128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降级容错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56832" y="2432304"/>
            <a:ext cx="1353312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RAG 检索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2432304"/>
            <a:ext cx="201167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SimHash 去重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2432304"/>
            <a:ext cx="118871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关键词提取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" y="2907791"/>
            <a:ext cx="1143000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65760" y="2907791"/>
            <a:ext cx="1554480" cy="67665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907791"/>
            <a:ext cx="1554480" cy="67665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108959"/>
            <a:ext cx="2505456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MySQL 8 · 24表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8304" y="3108959"/>
            <a:ext cx="1517904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Neo4j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3108959"/>
            <a:ext cx="118871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Redis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44384" y="3108959"/>
            <a:ext cx="1847088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BCrypt 加密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3108959"/>
            <a:ext cx="1024128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全文索引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5760" y="3584448"/>
            <a:ext cx="1143000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65760" y="3584448"/>
            <a:ext cx="1554480" cy="6766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584448"/>
            <a:ext cx="1554480" cy="6766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可观测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785616"/>
            <a:ext cx="201167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Prometheus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24528" y="3785616"/>
            <a:ext cx="201167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Grafana 大盘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5936" y="3785616"/>
            <a:ext cx="16824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ELK JSON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785616"/>
            <a:ext cx="1682495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Actuator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30384" y="3785616"/>
            <a:ext cx="1024128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健康检查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5760" y="4261104"/>
            <a:ext cx="1143000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65760" y="4261104"/>
            <a:ext cx="1554480" cy="67665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261104"/>
            <a:ext cx="1554480" cy="67665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4462272"/>
            <a:ext cx="118871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Vue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1568" y="4462272"/>
            <a:ext cx="2340864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Element Plus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4462272"/>
            <a:ext cx="1517904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ECharts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9792" y="4462272"/>
            <a:ext cx="1353312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VChart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42832" y="4462272"/>
            <a:ext cx="118871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Pinia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65760" y="4937760"/>
            <a:ext cx="1143000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65760" y="4937760"/>
            <a:ext cx="1554480" cy="67665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937760"/>
            <a:ext cx="1554480" cy="67665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工程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5138928"/>
            <a:ext cx="2176272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Docker 5 容器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5138928"/>
            <a:ext cx="1024128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健康检查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22976" y="5138928"/>
            <a:ext cx="1517904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集成测试 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0608" y="5138928"/>
            <a:ext cx="1517904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冒烟脚本 36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78240" y="5138928"/>
            <a:ext cx="2670048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GitHub Actions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65760" y="5614416"/>
            <a:ext cx="1143000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365760" y="5614416"/>
            <a:ext cx="1554480" cy="67665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5614416"/>
            <a:ext cx="1554480" cy="67665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文档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5815584"/>
            <a:ext cx="1517904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ROADMAP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30752" y="5815584"/>
            <a:ext cx="2505456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API_REFERENCE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45936" y="5815584"/>
            <a:ext cx="2834639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TEAM_ALLOCATION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90304" y="5815584"/>
            <a:ext cx="2176272" cy="2926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34155"/>
                </a:solidFill>
                <a:latin typeface="Microsoft YaHei"/>
                <a:ea typeface="Microsoft YaHei"/>
              </a:rPr>
              <a:t>演示脚本 1.2 万字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技术亮点 · 7 维度全栈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SCALABILITY &amp;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可扩展性 · 4 个未来扩展点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400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</a:rPr>
              <a:t>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多租户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所有业务表预留 tenant_id 字段，可快速支持省级 / 地市级多租户隔离，配置 RBAC 权限体系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502920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4F46E5"/>
                </a:solidFill>
                <a:latin typeface="Microsoft YaHei"/>
                <a:ea typeface="Microsoft YaHei"/>
              </a:rPr>
              <a:t>tenant_id = 'PROVINCE_GD'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7000" y="1554480"/>
            <a:ext cx="1463040" cy="1463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78308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8288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多 LLM 切换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QwenFacade.execute(prompt, fallback) 抽象层，支持切换 DeepSeek / 文心一言 / GPT-4o / Claude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337560"/>
            <a:ext cx="502920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Microsoft YaHei"/>
                <a:ea typeface="Microsoft YaHei"/>
              </a:rPr>
              <a:t>Qwen → DeepSeek → 文心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4023360"/>
            <a:ext cx="1463040" cy="14630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251960"/>
            <a:ext cx="640080" cy="6400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</a:rPr>
              <a:t>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9768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知识图谱增强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RegulationCorpusService 接入 Neo4j 后，可做"上位法全文比对 + 法条引用图谱可视化"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06440"/>
            <a:ext cx="502920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06B6D4"/>
                </a:solidFill>
                <a:latin typeface="Microsoft YaHei"/>
                <a:ea typeface="Microsoft YaHei"/>
              </a:rPr>
              <a:t>Neo4j Regulation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023360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7000" y="402336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425196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</a:rPr>
              <a:t>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29768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多端扩展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miniprogram/ 已预留，可扩展到政务 App / 派单 App / 钉钉 / 企业微信 等多端协同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5806440"/>
            <a:ext cx="502920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  <a:ea typeface="Microsoft YaHei"/>
              </a:rPr>
              <a:t>Web + 小程序 + H5 +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可扩展性 · 多租户 / 多 LLM / 知识图谱 / 多端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RISK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风险与应对 · 4 类风险预案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1143000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风险类型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2763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风险描述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27632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应对方案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1627632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11430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50008"/>
            <a:ext cx="457200" cy="2743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Neo4j 启不来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知识图谱组件启动失败时，清理模块受影响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331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→ NEO4J_ENABLED=false 降级到内存版图查询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28600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114300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27248"/>
            <a:ext cx="457200" cy="2743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089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Qwen API 限流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108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线上 Qwen 调用超阈值或网络异常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1089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→ QwenFacade 双通道 + 离线模板兜底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306324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11430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04488"/>
            <a:ext cx="4572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MID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862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MySQL 表不全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886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首次部署时可能出现部分表缺失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886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→ supplement_public.sql 补丁 + 自动初始化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384048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114300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681728"/>
            <a:ext cx="457200" cy="274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6634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Node 装不上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663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前端 npm install peer 依赖冲突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663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→ npm install --legacy-peer-deps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461772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12079"/>
            <a:ext cx="11430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458967"/>
            <a:ext cx="4572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MID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440679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icrosoft YaHei"/>
                <a:ea typeface="Microsoft YaHei"/>
              </a:rPr>
              <a:t>演示网络抖动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440679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答辩现场可能网络不稳定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440679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→ 离线兜底 + 录屏备份 + 完整种子数据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5394959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风险与应对 · 已制定 5 类预案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TIMELINE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项目时间线 · 5 天冲刺 · 3 人团队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2743200"/>
            <a:ext cx="10332720" cy="0"/>
          </a:xfrm>
          <a:prstGeom prst="line">
            <a:avLst/>
          </a:prstGeom>
          <a:ln w="508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371600" y="24688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011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架构 + 14 Controller + 9 Service + 24 表 + 种子数据</a:t>
            </a:r>
          </a:p>
        </p:txBody>
      </p:sp>
      <p:sp>
        <p:nvSpPr>
          <p:cNvPr id="10" name="Oval 9"/>
          <p:cNvSpPr/>
          <p:nvPr/>
        </p:nvSpPr>
        <p:spPr>
          <a:xfrm>
            <a:off x="3959352" y="24688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8288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3200400"/>
            <a:ext cx="2011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Vue 3 前端 + 8 页面 + AI QwenFacade + 异步任务</a:t>
            </a:r>
          </a:p>
        </p:txBody>
      </p:sp>
      <p:sp>
        <p:nvSpPr>
          <p:cNvPr id="13" name="Oval 12"/>
          <p:cNvSpPr/>
          <p:nvPr/>
        </p:nvSpPr>
        <p:spPr>
          <a:xfrm>
            <a:off x="6547104" y="24688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18288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00400"/>
            <a:ext cx="2011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Dashboard + Prometheus + 集成测试 20 + 冒烟 36 步</a:t>
            </a:r>
          </a:p>
        </p:txBody>
      </p:sp>
      <p:sp>
        <p:nvSpPr>
          <p:cNvPr id="16" name="Oval 15"/>
          <p:cNvSpPr/>
          <p:nvPr/>
        </p:nvSpPr>
        <p:spPr>
          <a:xfrm>
            <a:off x="9134856" y="246888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7656" y="18288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Day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3200400"/>
            <a:ext cx="2011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PPT 美化 + 讲稿打磨 + 演示脚本 1.2 万字 + 答辩演练</a:t>
            </a:r>
          </a:p>
        </p:txBody>
      </p:sp>
      <p:sp>
        <p:nvSpPr>
          <p:cNvPr id="19" name="Oval 18"/>
          <p:cNvSpPr/>
          <p:nvPr/>
        </p:nvSpPr>
        <p:spPr>
          <a:xfrm>
            <a:off x="11722608" y="2468880"/>
            <a:ext cx="548640" cy="548640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65408" y="18288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Day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91088" y="3200400"/>
            <a:ext cx="2011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正式答辩 · 2026-10-12 · 20 分钟演示 + 5 分钟问答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2651760" cy="1280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52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核心成员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5029200"/>
            <a:ext cx="2651760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852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冲刺天数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029200"/>
            <a:ext cx="26517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852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业务模块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5029200"/>
            <a:ext cx="2651760" cy="12801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5852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完成度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项目时间线 · 5 天冲刺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TEAM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团队分工 · 3 人 5 天紧密协作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5544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10972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2011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1E293B"/>
                </a:solidFill>
                <a:latin typeface="Microsoft YaHei"/>
                <a:ea typeface="Microsoft YaHei"/>
              </a:rPr>
              <a:t>🧑‍💻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A · 全栈架构师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F46E5"/>
                </a:solidFill>
                <a:latin typeface="Microsoft YaHei"/>
                <a:ea typeface="Microsoft YaHei"/>
              </a:rPr>
              <a:t>BACKEND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3291840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1089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Spring Boot 3.1 后端架构设计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14 Controller + 9 Service 编码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MySQL 24 表 + Neo4j 知识图谱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Prometheus + Grafana 监控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QwenFacade 双通道实现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表设计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指标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5544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554480"/>
            <a:ext cx="3657600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0" y="2011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1E293B"/>
                </a:solidFill>
                <a:latin typeface="Microsoft YaHei"/>
                <a:ea typeface="Microsoft YaHei"/>
              </a:rPr>
              <a:t>👩‍🎨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926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B · 前端 +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375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Microsoft YaHei"/>
                <a:ea typeface="Microsoft YaHei"/>
              </a:rPr>
              <a:t>FRONTEND &amp;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794760"/>
            <a:ext cx="3291840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840480"/>
            <a:ext cx="31089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Vue 3 + Element Plus 8 主页面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ECharts 流程图 + 雷达图 + Dashboard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AI 异步任务 + 轮询机制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6 类审查规则引擎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55 单测 + 36 步冒烟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页面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图表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单测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155448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1554480"/>
            <a:ext cx="3657600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55480" y="2011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0">
                <a:solidFill>
                  <a:srgbClr val="1E293B"/>
                </a:solidFill>
                <a:latin typeface="Microsoft YaHei"/>
                <a:ea typeface="Microsoft YaHei"/>
              </a:rPr>
              <a:t>🧑‍🔬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926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</a:rPr>
              <a:t>C · 测试 + 文档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3375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Microsoft YaHei"/>
                <a:ea typeface="Microsoft YaHei"/>
              </a:rPr>
              <a:t>QA &amp; DOCS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3794760"/>
            <a:ext cx="3291840" cy="12801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840480"/>
            <a:ext cx="31089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SpringBootTest 集成测试 20 用例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day1-3 冒烟脚本 36 步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ROADMAP / API / TEAM 文档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演示脚本 1.2 万字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• 答辩 PPT + 讲稿打磨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</a:rPr>
              <a:t>36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冒烟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16636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48640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943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⏱  5 天冲刺 · 10.07-10.11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943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📦  75+ 测试用例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943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📝  5 万字文档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943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🚀  v0.2.0 答辩版 · 2026-10-12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团队分工 · 3 人 5 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>
                <a:solidFill>
                  <a:srgbClr val="4F46E5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411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SUMMARY &amp;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858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icrosoft YaHei"/>
                <a:ea typeface="Microsoft YaHei"/>
              </a:rPr>
              <a:t>项目总结 · 五大亮点铸就金奖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371600"/>
            <a:ext cx="11430000" cy="0"/>
          </a:xfrm>
          <a:prstGeom prst="line">
            <a:avLst/>
          </a:prstGeom>
          <a:ln w="2540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🏆 五大亮点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6858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21488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架构完整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8 大模块 + 14 Controller + 9 Service + 24 表 · 4 层架构清晰可扩展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6858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" y="30175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71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真实数据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91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8 接口 / 11 图表 · 5 种子用户 · 完整业务闭环 · 75 测试 + 36 冒烟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6858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" y="3886199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40479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AI 能力突出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60519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Qwen 双通道 + 6 类规则 + SimHash + 三维评分 + RAG 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19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6858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47548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091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工程化规范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029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Docker 5 容器 + Prometheus 8 指标 + JSON 日志 + 一键启动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86400"/>
            <a:ext cx="6858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5623560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577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Microsoft YaHei"/>
                <a:ea typeface="Microsoft YaHei"/>
              </a:rPr>
              <a:t>演示流畅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897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20 分钟完整演示 · 6 大场景 · 1.2 万字演示脚本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6692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1554480"/>
            <a:ext cx="4389120" cy="4754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58400" y="1371600"/>
            <a:ext cx="2743200" cy="274320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78308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🎯 关键成果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237744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3774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立法流程从 18 月 → 9 月，效率提升 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88036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8803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风险检查从 人工 → AI 自动化，准确率 ≥ 90%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38328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3832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意见处理从 碎片化 → 结构化，归类准确率 85%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88620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8862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8 大模块全栈自研 · 0 外部依赖核心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38912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389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Docker 一键启动到演示 &lt; 3 分钟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89204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8920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3 人 5 天完整交付 · 答辩就绪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394960"/>
            <a:ext cx="27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53949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75 测试 + 36 冒烟 · 0 严重缺陷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项目总结 · 五大亮点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智立法团队 · legislation-platform v0.2.0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3657600"/>
            <a:ext cx="4572000" cy="45720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-914400"/>
            <a:ext cx="2743200" cy="2743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1371600"/>
            <a:ext cx="7589520" cy="411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0">
                <a:solidFill>
                  <a:srgbClr val="1E293B"/>
                </a:solidFill>
                <a:latin typeface="Microsoft YaHei"/>
                <a:ea typeface="Microsoft YaHei"/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Microsoft YaHei"/>
                <a:ea typeface="Microsoft YaHei"/>
              </a:rPr>
              <a:t>谢谢聆听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818CF8"/>
                </a:solidFill>
                <a:latin typeface="Microsoft YaHei"/>
                <a:ea typeface="Microsoft YaHei"/>
              </a:rPr>
              <a:t>智立法 · 行政立法智能辅助平台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1206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智立法团队 (A · B · 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1206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2026-10-12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v0.2.0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Microsoft YaHei"/>
                <a:ea typeface="Microsoft YaHei"/>
              </a:rPr>
              <a:t>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1206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legislation-platform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— 期待与各位评委老师的交流与指导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